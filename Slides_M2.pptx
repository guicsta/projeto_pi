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 e dados" id="{db56f2c3-6092-b375-4081-c6f8c7a72bf2}">
          <p14:sldIdLst>
            <p14:sldId id="256"/>
            <p14:sldId id="257"/>
            <p14:sldId id="258"/>
            <p14:sldId id="259"/>
          </p14:sldIdLst>
        </p14:section>
        <p14:section name="Pipeline e execução" id="{0899bc76-8ebe-5a69-c59c-5d4488326133}">
          <p14:sldIdLst>
            <p14:sldId id="260"/>
            <p14:sldId id="261"/>
            <p14:sldId id="262"/>
            <p14:sldId id="263"/>
          </p14:sldIdLst>
        </p14:section>
        <p14:section name="Experimentos e plano" id="{55924669-49dd-efa4-8b60-1e882ace843d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 no teste</c:v>
                </c:pt>
              </c:strCache>
            </c:strRef>
          </c:tx>
          <c:spPr>
            <a:solidFill>
              <a:srgbClr val="5E6E6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6E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B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Limiares sintéticos (M1)</c:v>
                  </c:pt>
                  <c:pt idx="1">
                    <c:v>Limiares calibrados no ajuste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57.5</c:v>
                </c:pt>
                <c:pt idx="1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"/>
          <c:min val="0"/>
        </c:scaling>
        <c:delete val="0"/>
        <c:axPos val="l"/>
        <c:majorGridlines>
          <c:spPr>
            <a:ln w="9525" cap="flat">
              <a:solidFill>
                <a:srgbClr val="DCE5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morfologia</c:v>
                </c:pt>
              </c:strCache>
            </c:strRef>
          </c:tx>
          <c:spPr>
            <a:solidFill>
              <a:srgbClr val="5E6E6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 = 0</c:v>
                  </c:pt>
                  <c:pt idx="1">
                    <c:v>σ = 30</c:v>
                  </c:pt>
                  <c:pt idx="2">
                    <c:v>σ = 60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27.5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abertura</c:v>
                </c:pt>
              </c:strCache>
            </c:strRef>
          </c:tx>
          <c:spPr>
            <a:solidFill>
              <a:srgbClr val="1F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 = 0</c:v>
                  </c:pt>
                  <c:pt idx="1">
                    <c:v>σ = 30</c:v>
                  </c:pt>
                  <c:pt idx="2">
                    <c:v>σ = 60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60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"/>
          <c:min val="0"/>
        </c:scaling>
        <c:delete val="0"/>
        <c:axPos val="l"/>
        <c:majorGridlines>
          <c:spPr>
            <a:ln w="9525" cap="flat">
              <a:solidFill>
                <a:srgbClr val="DCE5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1C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Regras</c:v>
                </c:pt>
              </c:strCache>
            </c:strRef>
          </c:tx>
          <c:spPr>
            <a:solidFill>
              <a:srgbClr val="1F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 = 0</c:v>
                  </c:pt>
                  <c:pt idx="1">
                    <c:v>σ = 30</c:v>
                  </c:pt>
                  <c:pt idx="2">
                    <c:v>σ = 60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27.5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Template matching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 = 0</c:v>
                  </c:pt>
                  <c:pt idx="1">
                    <c:v>σ = 30</c:v>
                  </c:pt>
                  <c:pt idx="2">
                    <c:v>σ = 60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27.5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k-NN (k = 3)</c:v>
                </c:pt>
              </c:strCache>
            </c:strRef>
          </c:tx>
          <c:spPr>
            <a:solidFill>
              <a:srgbClr val="C21F3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 = 0</c:v>
                  </c:pt>
                  <c:pt idx="1">
                    <c:v>σ = 30</c:v>
                  </c:pt>
                  <c:pt idx="2">
                    <c:v>σ = 60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97.5</c:v>
                </c:pt>
                <c:pt idx="2">
                  <c:v>20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"/>
          <c:min val="0"/>
        </c:scaling>
        <c:delete val="0"/>
        <c:axPos val="l"/>
        <c:majorGridlines>
          <c:spPr>
            <a:ln w="9525" cap="flat">
              <a:solidFill>
                <a:srgbClr val="DCE5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1C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Pires:
Olá, nós somos o grupo 13. Eu sou o Guilherme Pires, e comigo estão o Guilherme Cassettari e o Vinicius Lohn Ramires.
Nosso projeto identifica automaticamente o naipe de uma carta de baralho a partir de uma foto: copas, ouros, espadas ou paus.
Neste vídeo da etapa M2 vamos mostrar o que mudou desde a M1, os dados reais que coletamos, o pipeline implementado, uma execução real com as saídas intermediárias, os experimentos comparativos, as limitações e o plano para a M3.
Eu começo pela evolução do projeto e pelos dados. O Guilherme Cassettari apresenta o pipeline e a execução. E o Vinicius fecha com os experimentos, as limitações e o plano da 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Pires:
Na M1, o pipeline funcionava só com vinte imagens sintéticas, e a devolutiva apontou cinco correções essenciais.
Primeiro, fotografar cartas reais: fizemos 108 fotos do nosso baralho.
Segundo, definir a divisão de ajuste e teste antes de recalibrar os limiares: a divisão foi congelada em arquivo antes de qualquer calibração.
Terceiro, adaptar a segmentação ao canto da carta, onde ficam o valor e o símbolo: isso foi reimplementado.
Quarto, comparar regras, template matching e k-NN nas mesmas imagens: está feito, e vamos mostrar os resultados.
Quinto, remover a pasta ponto idea e melhorar o histórico: removemos, e passamos a fazer um commit por mudança, com mensagem descritiva.
Também corrigimos o diagrama Mermaid inválido da proposta. Cada ação está ligada a um commit no relatório da M2.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Pires:
Os dados agora são fotos reais. Usamos o baralho de plástico de um dos integrantes, fotografado com celular, de cima, sobre uma mesa de madeira, com a luz ambiente.
São 108 fotos: as 52 cartas, cada uma fotografada duas vezes, e mais quatro coringas. A resolução é de 960 por 1280 pixels.
Cada arquivo tem o nome no formato naipe, valor e número da foto. Esse nome é o rótulo manual de referência, conferido visualmente uma a uma.
Incluímos situações difíceis de propósito: cartas inclinadas, sombra sobre a carta, carta de cabeça para baixo, o valor dez, que tem dois algarismos, e figuras com desenho perto do índice.
Os coringas não têm naipe, então ficam fora da avaliação e servem como caso de falha esperada.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Pires:
Antes de recalibrar qualquer parâmetro, dividimos os dados em ajuste e teste. Para cada naipe, oito cartas vão para o ajuste e cinco para o teste: são 64 fotos de ajuste e 40 de teste.
Um detalhe importante: as duas fotos da mesma carta são quase idênticas, então elas ficam sempre no mesmo conjunto. Se uma foto fosse para o ajuste e a outra para o teste, o resultado seria inflado artificialmente.
A divisão usa semente fixa e está salva no repositório. Os limiares, os templates e os vizinhos do k-NN usam só o ajuste; o teste serve apenas para medir.
Para avaliar a localização do símbolo, usamos o IoU entre a caixa encontrada e a caixa de referência.
Agora passo para o Guilherme Cassettari, que vai apresentar 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Cassettari:
Obrigado. O pipeline tem seis etapas.
Primeiro, localizamos a carta: o papel é claro e a madeira é escura, então separamos pelo menor canal de cor e ficamos com o maior componente claro.
Segundo, recortamos o canto superior esquerdo, ancorado no vértice da carta, o que tolera inclinação. Como o índice se repete invertido no canto oposto, a carta de cabeça para baixo também funciona.
Terceiro, binarizamos o canto com o método de Otsu, implementado no próprio projeto, e opcionalmente aplicamos uma abertura morfológica.
Quarto, rotulamos os componentes conectados e separamos o valor do símbolo do naipe.
Quinto, extraímos a cor dominante e três descritores de forma. Sexto, decidimos o naipe com regras calibradas.
Otsu, componentes, morfologia e descritores foram implementados no próprio projeto, sem OpenCV.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Cassettari:
Aqui estão as saídas intermediárias reais do dez de espadas.
Da esquerda para a direita: a máscara da carta, que separa o papel do fundo; o recorte do canto; os componentes rotulados, cada um com uma cor; e o resultado, com o valor em verde e o naipe em azul.
Repare que o algarismo um e o zero são dois componentes separados. A regra agrupa os elementos que estão na mesma linha do primeiro, e os dois formam o valor dez.
A moldura central encosta na borda do recorte e é descartada. O naipe é o maior elemento logo abaixo do valor.
A última imagem é a máscara do símbolo, que vai para a extração de forma. Essas figuras são geradas pelo comando visualize e ficam na pasta de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Cassettari:
Usamos três descritores, todos adimensionais. O fill ratio é a fração da caixa ocupada pelo símbolo. A simetria vertical compara a metade de cima com a de baixo espelhada. E a razão de largura divide a largura média da metade de cima pela da metade de baixo.
A tabela mostra as médias reais por naipe. Copas é bem mais largo em cima, com razão de 2,25; ouros fica perto de 1; espadas é afilado em cima, com 0,70; e paus fica em 0,91.
A calibração testa os três descritores, todos os limiares e os dois sentidos da regra, só no conjunto de ajuste, e escolhe o que mais acerta.
Nas duas cores ela escolheu a razão de largura: acima de 1,65 é copas, senão ouros; acima de 0,80 é paus, senão espadas.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Cassettari:
Agora a execução real. O comando main recebe a foto e, com a opção saída, grava as figuras intermediárias.
[TROCAR PARA O TERMINAL, COLAR O COMANDO DO SLIDE, APERTAR ENTER E ESPERAR A SAÍDA APARECER. DEPOIS VOLTAR PARA O SLIDE]
Rodando na foto da dama de copas, o programa informa que é uma foto, identifica o naipe copas e a cor vermelha, e mostra o limiar de Otsu, os três descritores e as caixas do valor e do naipe em pixels.
Na imagem ao lado, o rei de paus: o desenho da figura entra no recorte, mas encosta na borda e é descartado, e o naipe é encontrado corretamente.
Tudo roda sem nenhum ajuste manual por imagem. O README tem os comandos para reproduzir todos os resultados e os testes automatizados.
Agora o Vinicius apresenta os experimentos.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Lohn Ramires:
Obrigado. O primeiro experimento pergunta se os limiares ajustados nas imagens sintéticas da M1 servem para fotos reais.
Mantivemos a mesma segmentação e as mesmas 40 fotos de teste, e mudamos só as regras.
Com os limiares sintéticos, acertamos 23 de 40, ou seja, 57,5 por cento. Com os limiares calibrados no ajuste, acertamos as 40.
A matriz de confusão mostra o motivo: nas cartas vermelhas a regra antiga ainda funciona, mas nas pretas ela está invertida. Todas as dez espadas viraram paus, porque o espadas sintético era mais largo em cima, e o espadas real é afilado.
Isso confirma o alerta da devolutiva: o cem por cento nas sintéticas não estimava o desempenho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Lohn Ramires:
O segundo experimento pergunta se a abertura morfológica ajuda a segmentar com ruído.
Adicionamos ruído gaussiano reproduzível às 40 fotos de teste, em três níveis, e comparamos sem e com abertura. O indicador é a proporção de símbolos localizados com IoU de pelo menos 0,5.
Sem ruído e com ruído moderado, as duas configurações ficam em cem por cento, ou seja, a abertura não atrapalha.
Com ruído forte, sigma 60, sem morfologia só 27,5 por cento dos símbolos são localizados; com abertura, 60 por cento.
Nas imagens, à esquerda, sem abertura o ruído vira uma mancha ligada à borda. À direita, com abertura, o valor cinco aparece, mas o losango ainda se perde. É um caso de falha que o IoU detecta.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Lohn Ramires:
O terceiro experimento compara três métodos de decisão sobre a mesma segmentação: regras, template matching e k-NN com k igual a três. Os três usam as mesmas 64 fotos de ajuste e as mesmas 40 de teste.
Nas fotos limpas os três empatam em cem por cento, então o nosso teste é pequeno demais para separar métodos tão bons.
Com ruído moderado, o k-NN é o primeiro a errar. Com ruído forte todos caem, porque o gargalo passa a ser a segmentação, e não a decisão. Por isso mantivemos as regras, que são as mais simples e explicáveis.
À direita está o coringa: não há naipe abaixo do valor, e o sistema avisa o erro em vez de inventar um naipe.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Lohn Ramires:
Sobre as limitações: usamos um único baralho, uma única mesa e uma única iluminação, então os cem por cento não garantem o mesmo resultado em outro fundo. Além disso, o teste tem só cinco cartas por naipe, e a segmentação é frágil com ruído forte.
Para a M3, eu vou fotografar um segundo conjunto, com outro fundo e outra luz, para servir de teste externo, além de reconhecer o valor da carta e detectar o coringa.
O Guilherme Pires vai criar máscaras de referência manuais e tornar a segmentação robusta a ruído. O Guilherme Cassettari revisa o relatório e o README, e o vídeo da M3 é de todos.
O relatório completo e os comandos estão no repositório.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Identificação de Naipe em Cartas de Baralho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Projeto Aplicado Longitudinal — Etapa M2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Processamento de Imagens · 2026-02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Guilherme Cassettari  ·  Guilherme Pires  ·  Vinicius Lohn Ramires</a:t>
            </a:r>
            <a:endParaRPr lang="en-US" sz="1600" dirty="0"/>
          </a:p>
        </p:txBody>
      </p:sp>
      <p:sp>
        <p:nvSpPr>
          <p:cNvPr id="5" name="naipe"/>
          <p:cNvSpPr/>
          <p:nvPr/>
        </p:nvSpPr>
        <p:spPr>
          <a:xfrm>
            <a:off x="640080" y="6858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2000" dirty="0"/>
          </a:p>
        </p:txBody>
      </p:sp>
      <p:sp>
        <p:nvSpPr>
          <p:cNvPr id="7" name="naipe"/>
          <p:cNvSpPr/>
          <p:nvPr/>
        </p:nvSpPr>
        <p:spPr>
          <a:xfrm>
            <a:off x="1325880" y="6858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2000" dirty="0"/>
          </a:p>
        </p:txBody>
      </p:sp>
      <p:sp>
        <p:nvSpPr>
          <p:cNvPr id="9" name="naipe"/>
          <p:cNvSpPr/>
          <p:nvPr/>
        </p:nvSpPr>
        <p:spPr>
          <a:xfrm>
            <a:off x="2011680" y="6858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1168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2000" dirty="0"/>
          </a:p>
        </p:txBody>
      </p:sp>
      <p:sp>
        <p:nvSpPr>
          <p:cNvPr id="11" name="naipe"/>
          <p:cNvSpPr/>
          <p:nvPr/>
        </p:nvSpPr>
        <p:spPr>
          <a:xfrm>
            <a:off x="2697480" y="6858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2000" dirty="0"/>
          </a:p>
        </p:txBody>
      </p:sp>
      <p:pic>
        <p:nvPicPr>
          <p:cNvPr id="13" name="copas_Q_01.jpg" descr="Foto real da dama de copas sobre a me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68580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 M1 à M2: resposta à devolutiva</a:t>
            </a:r>
            <a:endParaRPr lang="en-US" sz="3200" dirty="0"/>
          </a:p>
        </p:txBody>
      </p:sp>
      <p:sp>
        <p:nvSpPr>
          <p:cNvPr id="3" name="card M1"/>
          <p:cNvSpPr/>
          <p:nvPr/>
        </p:nvSpPr>
        <p:spPr>
          <a:xfrm>
            <a:off x="548640" y="1325880"/>
            <a:ext cx="3108960" cy="3401568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697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 imagens sintéticas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Segmentação da imagem inteira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Limiares fixos, sem divisão de dados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100% interno, sem validade externa</a:t>
            </a:r>
            <a:endParaRPr lang="en-US" sz="1500" dirty="0"/>
          </a:p>
        </p:txBody>
      </p:sp>
      <p:graphicFrame>
        <p:nvGraphicFramePr>
          <p:cNvPr id="3" name="tabela devolu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069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Orientação da devolutiva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Ação na M2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Fotografar cartas reais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108 fotos do baralho do grupo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Divisão ajuste/teste antes de recalibrar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Divisão congelada em arquivo, por carta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Segmentar o canto (valor + símbolo)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Canto, componentes, valor e naipe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Comparar regras, template e k-NN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Mesmas imagens de ajuste e teste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Remover .idea/ e melhorar histórico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Removido; um commit por mudança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977640" y="507492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Cada ação está ligada a um commit na seção 2 do relatório da M2 (docs/relatorio_m2.md).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Dados: 108 fotos reais do baralho do grupo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fotos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× 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cartas, duas fotos cada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coringas (fora da avaliação)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8348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Aquisição: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celular, de cima, mesa de madeira, luz ambiente, 960 × 1280 px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Rótulo: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naipe_valor_nn.jpg, conferido visualmente uma a uma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Casos difíceis: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inclinação, sombra, cabeça para baixo, valor 10, figuras</a:t>
            </a:r>
            <a:endParaRPr lang="en-US" sz="1500" dirty="0"/>
          </a:p>
        </p:txBody>
      </p:sp>
      <p:pic>
        <p:nvPicPr>
          <p:cNvPr id="10" name="copas_Q_01.jpg" descr="Foto real: cop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1371600" cy="1828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9319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copas</a:t>
            </a:r>
            <a:endParaRPr lang="en-US" sz="1200" dirty="0"/>
          </a:p>
        </p:txBody>
      </p:sp>
      <p:pic>
        <p:nvPicPr>
          <p:cNvPr id="12" name="ouros_7_01.jpg" descr="Foto real: ou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1371600" cy="1828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ouros</a:t>
            </a:r>
            <a:endParaRPr lang="en-US" sz="1200" dirty="0"/>
          </a:p>
        </p:txBody>
      </p:sp>
      <p:pic>
        <p:nvPicPr>
          <p:cNvPr id="14" name="espadas_9_01.jpg" descr="Foto real: espad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25880"/>
            <a:ext cx="1371600" cy="18288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espadas</a:t>
            </a:r>
            <a:endParaRPr lang="en-US" sz="1200" dirty="0"/>
          </a:p>
        </p:txBody>
      </p:sp>
      <p:pic>
        <p:nvPicPr>
          <p:cNvPr id="16" name="paus_5_01.jpg" descr="Foto real: pa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325880"/>
            <a:ext cx="1371600" cy="1828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paus</a:t>
            </a:r>
            <a:endParaRPr lang="en-US" sz="1200" dirty="0"/>
          </a:p>
        </p:txBody>
      </p:sp>
      <p:pic>
        <p:nvPicPr>
          <p:cNvPr id="18" name="coringa_preto_01.jpg" descr="Foto real: coring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1325880"/>
            <a:ext cx="1371600" cy="1828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14984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coringa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Protocolo: ajuste e teste separados antes de calibrar</a:t>
            </a:r>
            <a:endParaRPr lang="en-US" sz="3200" dirty="0"/>
          </a:p>
        </p:txBody>
      </p:sp>
      <p:sp>
        <p:nvSpPr>
          <p:cNvPr id="3" name="bloco total"/>
          <p:cNvSpPr/>
          <p:nvPr/>
        </p:nvSpPr>
        <p:spPr>
          <a:xfrm>
            <a:off x="548640" y="1463040"/>
            <a:ext cx="30175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cartas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por naipe · 2 fotos cada</a:t>
            </a:r>
            <a:endParaRPr lang="en-US" sz="2600" dirty="0"/>
          </a:p>
        </p:txBody>
      </p:sp>
      <p:sp>
        <p:nvSpPr>
          <p:cNvPr id="5" name="seta"/>
          <p:cNvSpPr/>
          <p:nvPr/>
        </p:nvSpPr>
        <p:spPr>
          <a:xfrm>
            <a:off x="3749040" y="1920240"/>
            <a:ext cx="73152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bloco Ajuste"/>
          <p:cNvSpPr/>
          <p:nvPr/>
        </p:nvSpPr>
        <p:spPr>
          <a:xfrm>
            <a:off x="466344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554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8 cartas por naipe · 64 fotos</a:t>
            </a:r>
            <a:endParaRPr lang="en-US" sz="2600" dirty="0"/>
          </a:p>
        </p:txBody>
      </p:sp>
      <p:sp>
        <p:nvSpPr>
          <p:cNvPr id="8" name="bloco Teste"/>
          <p:cNvSpPr/>
          <p:nvPr/>
        </p:nvSpPr>
        <p:spPr>
          <a:xfrm>
            <a:off x="822960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66760" y="1554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5 cartas por naipe · 40 fotos</a:t>
            </a:r>
            <a:endParaRPr lang="en-US" sz="2600" dirty="0"/>
          </a:p>
        </p:txBody>
      </p:sp>
      <p:sp>
        <p:nvSpPr>
          <p:cNvPr id="10" name="naipe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91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Duas fotos da mesma carta ficam sempre no mesmo conjunto: nenhuma carta do ajuste reaparece no teste</a:t>
            </a:r>
            <a:endParaRPr lang="en-US" sz="1600" dirty="0"/>
          </a:p>
        </p:txBody>
      </p:sp>
      <p:sp>
        <p:nvSpPr>
          <p:cNvPr id="13" name="naipe"/>
          <p:cNvSpPr/>
          <p:nvPr/>
        </p:nvSpPr>
        <p:spPr>
          <a:xfrm>
            <a:off x="548640" y="40050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050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Limiares, templates e vizinhos do k-NN usam só o ajuste; o teste só mede</a:t>
            </a:r>
            <a:endParaRPr lang="en-US" sz="1600" dirty="0"/>
          </a:p>
        </p:txBody>
      </p:sp>
      <p:sp>
        <p:nvSpPr>
          <p:cNvPr id="16" name="naipe"/>
          <p:cNvSpPr/>
          <p:nvPr/>
        </p:nvSpPr>
        <p:spPr>
          <a:xfrm>
            <a:off x="548640" y="47183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7183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Divisão com semente fixa, salva em images/split_reais.json antes de qualquer calibração</a:t>
            </a:r>
            <a:endParaRPr lang="en-US" sz="1600" dirty="0"/>
          </a:p>
        </p:txBody>
      </p:sp>
      <p:sp>
        <p:nvSpPr>
          <p:cNvPr id="19" name="naipe"/>
          <p:cNvSpPr/>
          <p:nvPr/>
        </p:nvSpPr>
        <p:spPr>
          <a:xfrm>
            <a:off x="548640" y="54315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4315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Referência: rótulo manual por foto; localização medida por IoU com a caixa da foto limpa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implementado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48640" y="141732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naip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4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Localizar a carta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papel claro × madeira escura; maior componente</a:t>
            </a:r>
            <a:endParaRPr lang="en-US" sz="1500" dirty="0"/>
          </a:p>
        </p:txBody>
      </p:sp>
      <p:sp>
        <p:nvSpPr>
          <p:cNvPr id="8" name="seta"/>
          <p:cNvSpPr/>
          <p:nvPr/>
        </p:nvSpPr>
        <p:spPr>
          <a:xfrm>
            <a:off x="4023360" y="2194560"/>
            <a:ext cx="274320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etapa 2"/>
          <p:cNvSpPr/>
          <p:nvPr/>
        </p:nvSpPr>
        <p:spPr>
          <a:xfrm>
            <a:off x="4343400" y="141732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naipe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4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Recortar o canto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ancorado no vértice; tolera inclinação</a:t>
            </a:r>
            <a:endParaRPr lang="en-US" sz="1500" dirty="0"/>
          </a:p>
        </p:txBody>
      </p:sp>
      <p:sp>
        <p:nvSpPr>
          <p:cNvPr id="14" name="seta"/>
          <p:cNvSpPr/>
          <p:nvPr/>
        </p:nvSpPr>
        <p:spPr>
          <a:xfrm>
            <a:off x="7818120" y="2194560"/>
            <a:ext cx="274320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etapa 3"/>
          <p:cNvSpPr/>
          <p:nvPr/>
        </p:nvSpPr>
        <p:spPr>
          <a:xfrm>
            <a:off x="8138160" y="141732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6" name="naipe"/>
          <p:cNvSpPr/>
          <p:nvPr/>
        </p:nvSpPr>
        <p:spPr>
          <a:xfrm>
            <a:off x="8366760" y="1645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4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Binarizar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Otsu sobre min(R,G,B) + abertura opcional</a:t>
            </a:r>
            <a:endParaRPr lang="en-US" sz="1500" dirty="0"/>
          </a:p>
        </p:txBody>
      </p:sp>
      <p:sp>
        <p:nvSpPr>
          <p:cNvPr id="20" name="etapa 4"/>
          <p:cNvSpPr/>
          <p:nvPr/>
        </p:nvSpPr>
        <p:spPr>
          <a:xfrm>
            <a:off x="548640" y="365760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1" name="naipe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4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rotulação 8-viz.; valor e naipe</a:t>
            </a:r>
            <a:endParaRPr lang="en-US" sz="1500" dirty="0"/>
          </a:p>
        </p:txBody>
      </p:sp>
      <p:sp>
        <p:nvSpPr>
          <p:cNvPr id="25" name="seta"/>
          <p:cNvSpPr/>
          <p:nvPr/>
        </p:nvSpPr>
        <p:spPr>
          <a:xfrm>
            <a:off x="4023360" y="4434840"/>
            <a:ext cx="274320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6" name="etapa 5"/>
          <p:cNvSpPr/>
          <p:nvPr/>
        </p:nvSpPr>
        <p:spPr>
          <a:xfrm>
            <a:off x="4343400" y="365760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7" name="naipe"/>
          <p:cNvSpPr/>
          <p:nvPr/>
        </p:nvSpPr>
        <p:spPr>
          <a:xfrm>
            <a:off x="4572000" y="3886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4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 dominante + 3 descritores de forma</a:t>
            </a:r>
            <a:endParaRPr lang="en-US" sz="1500" dirty="0"/>
          </a:p>
        </p:txBody>
      </p:sp>
      <p:sp>
        <p:nvSpPr>
          <p:cNvPr id="31" name="seta"/>
          <p:cNvSpPr/>
          <p:nvPr/>
        </p:nvSpPr>
        <p:spPr>
          <a:xfrm>
            <a:off x="7818120" y="4434840"/>
            <a:ext cx="274320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32" name="etapa 6"/>
          <p:cNvSpPr/>
          <p:nvPr/>
        </p:nvSpPr>
        <p:spPr>
          <a:xfrm>
            <a:off x="8138160" y="3657600"/>
            <a:ext cx="3429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33" name="naipe"/>
          <p:cNvSpPr/>
          <p:nvPr/>
        </p:nvSpPr>
        <p:spPr>
          <a:xfrm>
            <a:off x="836676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667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4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regras calibradas no ajuste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Otsu, componentes conectados, erosão/dilatação e descritores implementados no próprio projeto, sem OpenCV.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Saídas intermediárias: o 10 de espadas</a:t>
            </a:r>
            <a:endParaRPr lang="en-US" sz="3200" dirty="0"/>
          </a:p>
        </p:txBody>
      </p:sp>
      <p:pic>
        <p:nvPicPr>
          <p:cNvPr id="3" name="espadas_10_01__1_mascara_carta.png" descr="1. Máscara da ca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53746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06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 Máscara da carta</a:t>
            </a:r>
            <a:endParaRPr lang="en-US" sz="1300" dirty="0"/>
          </a:p>
        </p:txBody>
      </p:sp>
      <p:pic>
        <p:nvPicPr>
          <p:cNvPr id="5" name="espadas_10_01__2_canto.png" descr="2. Recorte do ca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325880"/>
            <a:ext cx="1523178" cy="3383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51860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 Recorte do canto</a:t>
            </a:r>
            <a:endParaRPr lang="en-US" sz="1300" dirty="0"/>
          </a:p>
        </p:txBody>
      </p:sp>
      <p:pic>
        <p:nvPicPr>
          <p:cNvPr id="7" name="espadas_10_01__3_componentes_rotulados.png" descr="3. Componentes rotul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325880"/>
            <a:ext cx="1523178" cy="33832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17820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3. Componentes rotulados</a:t>
            </a:r>
            <a:endParaRPr lang="en-US" sz="1300" dirty="0"/>
          </a:p>
        </p:txBody>
      </p:sp>
      <p:pic>
        <p:nvPicPr>
          <p:cNvPr id="9" name="espadas_10_01__4_valor_e_naipe.png" descr="4. Valor (verde) e naipe (azul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80" y="1325880"/>
            <a:ext cx="1523178" cy="33832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383780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4. Valor (verde) e naipe (azul)</a:t>
            </a:r>
            <a:endParaRPr lang="en-US" sz="1300" dirty="0"/>
          </a:p>
        </p:txBody>
      </p:sp>
      <p:pic>
        <p:nvPicPr>
          <p:cNvPr id="11" name="espadas_10_01__5_mascara_simbolo.png" descr="5. Máscara do símbo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740" y="1325880"/>
            <a:ext cx="1250066" cy="1645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349740" y="4800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5. Máscara do símbolo</a:t>
            </a:r>
            <a:endParaRPr lang="en-US" sz="13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5394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“1” e “0” são dois componentes: a regra agrupa os elementos na linha do primeiro e forma o valor 10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moldura central toca a borda do recorte e é descartada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Naipe = maior elemento logo abaixo do valor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Descritores de forma e calibração</a:t>
            </a:r>
            <a:endParaRPr lang="en-US" sz="3200" dirty="0"/>
          </a:p>
        </p:txBody>
      </p:sp>
      <p:graphicFrame>
        <p:nvGraphicFramePr>
          <p:cNvPr id="8" name="tabela descrit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Naipe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fill_ratio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vertical_symmetry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width_profile_ratio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♥ copas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0,532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0,577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2,254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♦ ouros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0,399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0,969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1,041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♠ espadas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0,500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0,788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0,695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♣ paus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0,465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0,774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0,909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Médias nas 26 fotos de cada naipe (images/results/tabela_features.csv). Descritores adimensionais.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fill_ratio: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pixels do símbolo ÷ área da caixa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vertical_symmetry: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concordância entre a metade de cima e a de baixo espelhada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width_profile_ratio: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largura média em cima ÷ largura média embaixo</a:t>
            </a:r>
            <a:endParaRPr lang="en-US" sz="1500" dirty="0"/>
          </a:p>
        </p:txBody>
      </p:sp>
      <p:sp>
        <p:nvSpPr>
          <p:cNvPr id="6" name="regras calibradas"/>
          <p:cNvSpPr/>
          <p:nvPr/>
        </p:nvSpPr>
        <p:spPr>
          <a:xfrm>
            <a:off x="7680960" y="1371600"/>
            <a:ext cx="3931920" cy="37490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1600200"/>
            <a:ext cx="3429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calibradas só no ajuste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9C4B6"/>
                </a:solidFill>
              </a:rPr>
              <a:t>Vermelho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width_profile_ratio &gt; 1,65 → copas, senão ouros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9C4B6"/>
                </a:solidFill>
              </a:rPr>
              <a:t>Preto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width_profile_ratio &gt; 0,80 → paus, senão espadas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9C4B6"/>
                </a:solidFill>
              </a:rPr>
              <a:t>Busca em 3 descritores × todos os limiares × 2 sentidos; vence o maior acerto no ajuste, depois a maior folga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Execução real, sem ajuste manual por imagem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548640" y="1371600"/>
            <a:ext cx="7863840" cy="3931920"/>
          </a:xfrm>
          <a:prstGeom prst="roundRect">
            <a:avLst>
              <a:gd name="adj" fmla="val 2326"/>
            </a:avLst>
          </a:prstGeom>
          <a:solidFill>
            <a:srgbClr val="1C1C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406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src.main images/input/reais/copas_Q_01.jpg --saida saida_exemplo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foto (segmentação do canto)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Naipe identificado: copas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 detectada: vermelho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(Otsu): 140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Características: fill 0.5336 · simetria 0.578 · largura 2.2068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Caixa do valor (y0, y1, x0, x1): (201, 351, 193, 302)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Caixa do naipe (y0, y1, x0, x1): (378, 498, 195, 298)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Saídas intermediárias salvas em: saida_exemplo</a:t>
            </a:r>
            <a:endParaRPr lang="en-US" sz="1250" dirty="0"/>
          </a:p>
        </p:txBody>
      </p:sp>
      <p:pic>
        <p:nvPicPr>
          <p:cNvPr id="5" name="paus_K_01__4_valor_e_naipe.png" descr="Rei de paus: valor e naipe encontr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371600"/>
            <a:ext cx="1872343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69680" y="5394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Rei de paus: o desenho da figura toca a borda e é descartado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Reprodução completa no README: split, calibrate, compare, experiments, visualize e pytest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Experimento 1: os limiares sintéticos servem para fotos?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Acurácia nas 40 fotos de teste (mesma segmentação)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Matriz de confusão dos limiares sintéticos</a:t>
            </a:r>
            <a:endParaRPr lang="en-US" sz="1500" dirty="0"/>
          </a:p>
        </p:txBody>
      </p:sp>
      <p:graphicFrame>
        <p:nvGraphicFramePr>
          <p:cNvPr id="10" name="matriz sintetic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28800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77724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Esperado \ previsto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copas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espadas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ouros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paus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copas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espadas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ouros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paus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83680" y="42519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Nas pretas a regra antiga está invertida: o espadas real é afilado em cima (0,70), o sintético não.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Calibrados no ajuste: 40/40, matriz diagonal.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Experimento 2: abertura morfológica com ruído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Símbolos localizados com IoU ≥ 0,5 (40 fotos de teste)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ouros_5_01_ruido60_sem_morfologia__3_componentes_rotulados.png" descr="Componentes sem morfologia com ruído for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1610287" cy="3566160"/>
          </a:xfrm>
          <a:prstGeom prst="rect">
            <a:avLst/>
          </a:prstGeom>
        </p:spPr>
      </p:pic>
      <p:pic>
        <p:nvPicPr>
          <p:cNvPr id="6" name="ouros_5_01_ruido60_abertura__4_valor_e_naipe.png" descr="Valor e naipe com abertura e ruído for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371600"/>
            <a:ext cx="1610287" cy="35661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406640" y="5029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Sem abertura: mancha ligada à borda, nada é segmentado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418320" y="5029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 abertura: o “5” aparece, mas o losango ainda se perde (falha)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Experimento 3: regras × template matching × k-NN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Acurácia no teste, mesmas 64 fotos de ajuste e 40 de teste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371600"/>
            <a:ext cx="2194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Fotos limpas: empate em 100%; o teste é pequeno para separar métodos tão bons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k-NN erra primeiro com ruído moderado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 ruído forte o gargalo é a segmentação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Decisão: manter as regras, mais simples e explicáveis</a:t>
            </a:r>
            <a:endParaRPr lang="en-US" sz="1400" dirty="0"/>
          </a:p>
        </p:txBody>
      </p:sp>
      <p:pic>
        <p:nvPicPr>
          <p:cNvPr id="6" name="coringa_preto_01__4_valor_e_naipe.png" descr="Canto do coringa sem nai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0"/>
            <a:ext cx="140589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149840" y="4572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Falha esperada: o coringa não tem naipe e o sistema avisa o erro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Limitações e plano da M3</a:t>
            </a:r>
            <a:endParaRPr lang="en-US" sz="3200" dirty="0"/>
          </a:p>
        </p:txBody>
      </p:sp>
      <p:sp>
        <p:nvSpPr>
          <p:cNvPr id="3" name="limitacoes"/>
          <p:cNvSpPr/>
          <p:nvPr/>
        </p:nvSpPr>
        <p:spPr>
          <a:xfrm>
            <a:off x="548640" y="1371600"/>
            <a:ext cx="4206240" cy="4096512"/>
          </a:xfrm>
          <a:prstGeom prst="roundRect">
            <a:avLst>
              <a:gd name="adj" fmla="val 267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749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baralho, uma mesa, uma luz: 100% não garante outro fundo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Teste pequeno: 5 cartas por naipe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Segmentação frágil com ruído forte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Valor localizado, ainda não reconhecido</a:t>
            </a:r>
            <a:endParaRPr lang="en-US" sz="1500" dirty="0"/>
          </a:p>
        </p:txBody>
      </p:sp>
      <p:graphicFrame>
        <p:nvGraphicFramePr>
          <p:cNvPr id="13" name="plano M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71600"/>
          <a:ext cx="64922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828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Tarefa da M3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Responsável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Segundo conjunto (outro fundo e luz) como teste externo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Vinicius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Reconhecer o valor da carta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Vinicius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Detectar o coringa como classe própria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Vinicius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Máscaras de referência manuais e Dice/IoU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G. Pires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Segmentação robusta a ruído forte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G. Pires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Revisão de relatório e README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G. Cassettari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Vídeo da M3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120640" y="56692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Relatório completo: docs/relatorio_m2.md · Repositório: github.com/GUICSTA/Projeto_PI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sa de Cartas">
  <a:themeElements>
    <a:clrScheme name="Mesa de Cartas">
      <a:dk1>
        <a:srgbClr val="1C1C1C"/>
      </a:dk1>
      <a:lt1>
        <a:srgbClr val="FFFFFF"/>
      </a:lt1>
      <a:dk2>
        <a:srgbClr val="0E3B2C"/>
      </a:dk2>
      <a:lt2>
        <a:srgbClr val="EDF3EF"/>
      </a:lt2>
      <a:accent1>
        <a:srgbClr val="C21F32"/>
      </a:accent1>
      <a:accent2>
        <a:srgbClr val="1F6B4F"/>
      </a:accent2>
      <a:accent3>
        <a:srgbClr val="C99A2E"/>
      </a:accent3>
      <a:accent4>
        <a:srgbClr val="5E6E66"/>
      </a:accent4>
      <a:accent5>
        <a:srgbClr val="2B2B2B"/>
      </a:accent5>
      <a:accent6>
        <a:srgbClr val="A9C4B6"/>
      </a:accent6>
      <a:hlink>
        <a:srgbClr val="1F6B4F"/>
      </a:hlink>
      <a:folHlink>
        <a:srgbClr val="5E6E66"/>
      </a:folHlink>
    </a:clrScheme>
    <a:fontScheme name="Mesa de Cart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Identificação de Naipe em Cartas de Baralho — M2</dc:title>
  <dc:subject>PptxGenJS Presentation</dc:subject>
  <dc:creator>Grupo 13</dc:creator>
  <cp:lastModifiedBy>Grupo 13</cp:lastModifiedBy>
  <cp:revision>1</cp:revision>
  <dcterms:created xsi:type="dcterms:W3CDTF">2026-10-27T19:12:19Z</dcterms:created>
  <dcterms:modified xsi:type="dcterms:W3CDTF">2026-10-27T19:12:19Z</dcterms:modified>
</cp:coreProperties>
</file>